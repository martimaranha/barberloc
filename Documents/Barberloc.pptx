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fa Slab One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Open Sans Bold" charset="1" panose="020B0806030504020204"/>
      <p:regular r:id="rId18"/>
    </p:embeddedFont>
    <p:embeddedFont>
      <p:font typeface="Canva Sans Bold" charset="1" panose="020B0803030501040103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slide9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55" r="0" b="-136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8179" y="1989146"/>
            <a:ext cx="1291642" cy="889618"/>
          </a:xfrm>
          <a:custGeom>
            <a:avLst/>
            <a:gdLst/>
            <a:ahLst/>
            <a:cxnLst/>
            <a:rect r="r" b="b" t="t" l="l"/>
            <a:pathLst>
              <a:path h="889618" w="1291642">
                <a:moveTo>
                  <a:pt x="0" y="0"/>
                </a:moveTo>
                <a:lnTo>
                  <a:pt x="1291642" y="0"/>
                </a:lnTo>
                <a:lnTo>
                  <a:pt x="1291642" y="889619"/>
                </a:lnTo>
                <a:lnTo>
                  <a:pt x="0" y="8896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522533" y="6035258"/>
            <a:ext cx="123683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56112" y="607893"/>
            <a:ext cx="2165860" cy="1256199"/>
          </a:xfrm>
          <a:custGeom>
            <a:avLst/>
            <a:gdLst/>
            <a:ahLst/>
            <a:cxnLst/>
            <a:rect r="r" b="b" t="t" l="l"/>
            <a:pathLst>
              <a:path h="1256199" w="2165860">
                <a:moveTo>
                  <a:pt x="0" y="0"/>
                </a:moveTo>
                <a:lnTo>
                  <a:pt x="2165860" y="0"/>
                </a:lnTo>
                <a:lnTo>
                  <a:pt x="2165860" y="1256199"/>
                </a:lnTo>
                <a:lnTo>
                  <a:pt x="0" y="1256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2533" y="2970712"/>
            <a:ext cx="11242935" cy="217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90"/>
              </a:lnSpc>
              <a:spcBef>
                <a:spcPct val="0"/>
              </a:spcBef>
            </a:pPr>
            <a:r>
              <a:rPr lang="en-US" sz="12707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BARBERLOC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578" y="5048250"/>
            <a:ext cx="16306845" cy="83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0545CD"/>
                </a:solidFill>
                <a:latin typeface="Alfa Slab One"/>
                <a:ea typeface="Alfa Slab One"/>
                <a:cs typeface="Alfa Slab One"/>
                <a:sym typeface="Alfa Slab One"/>
              </a:rPr>
              <a:t>PROVA DE APTIDÃO PROFISSIONAL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40058"/>
            <a:ext cx="163068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MARTIM ARANHA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75311" y="9554367"/>
            <a:ext cx="96797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01/10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85059" y="2001866"/>
            <a:ext cx="5581592" cy="47625"/>
            <a:chOff x="0" y="0"/>
            <a:chExt cx="4410146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0146" cy="37630"/>
            </a:xfrm>
            <a:custGeom>
              <a:avLst/>
              <a:gdLst/>
              <a:ahLst/>
              <a:cxnLst/>
              <a:rect r="r" b="b" t="t" l="l"/>
              <a:pathLst>
                <a:path h="37630" w="4410146">
                  <a:moveTo>
                    <a:pt x="0" y="0"/>
                  </a:moveTo>
                  <a:lnTo>
                    <a:pt x="4410146" y="0"/>
                  </a:lnTo>
                  <a:lnTo>
                    <a:pt x="4410146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0146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3428" cy="123444"/>
            <a:chOff x="0" y="0"/>
            <a:chExt cx="24377904" cy="164592"/>
          </a:xfrm>
        </p:grpSpPr>
        <p:sp>
          <p:nvSpPr>
            <p:cNvPr name="Freeform 6" id="6" descr="/home/claude/stripe.png"/>
            <p:cNvSpPr/>
            <p:nvPr/>
          </p:nvSpPr>
          <p:spPr>
            <a:xfrm flipH="false" flipV="false" rot="0">
              <a:off x="0" y="0"/>
              <a:ext cx="24377904" cy="164592"/>
            </a:xfrm>
            <a:custGeom>
              <a:avLst/>
              <a:gdLst/>
              <a:ahLst/>
              <a:cxnLst/>
              <a:rect r="r" b="b" t="t" l="l"/>
              <a:pathLst>
                <a:path h="164592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35950" r="0" b="-283595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42295">
            <a:off x="1363659" y="756870"/>
            <a:ext cx="705689" cy="1900845"/>
          </a:xfrm>
          <a:custGeom>
            <a:avLst/>
            <a:gdLst/>
            <a:ahLst/>
            <a:cxnLst/>
            <a:rect r="r" b="b" t="t" l="l"/>
            <a:pathLst>
              <a:path h="1900845" w="705689">
                <a:moveTo>
                  <a:pt x="0" y="0"/>
                </a:moveTo>
                <a:lnTo>
                  <a:pt x="705689" y="0"/>
                </a:lnTo>
                <a:lnTo>
                  <a:pt x="705689" y="1900845"/>
                </a:lnTo>
                <a:lnTo>
                  <a:pt x="0" y="1900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21273">
            <a:off x="2092624" y="1095720"/>
            <a:ext cx="1633490" cy="1877575"/>
          </a:xfrm>
          <a:custGeom>
            <a:avLst/>
            <a:gdLst/>
            <a:ahLst/>
            <a:cxnLst/>
            <a:rect r="r" b="b" t="t" l="l"/>
            <a:pathLst>
              <a:path h="1877575" w="1633490">
                <a:moveTo>
                  <a:pt x="0" y="0"/>
                </a:moveTo>
                <a:lnTo>
                  <a:pt x="1633490" y="0"/>
                </a:lnTo>
                <a:lnTo>
                  <a:pt x="1633490" y="1877575"/>
                </a:lnTo>
                <a:lnTo>
                  <a:pt x="0" y="1877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942975"/>
            <a:ext cx="18288000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Conteúdos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3792" y="4390262"/>
            <a:ext cx="10954581" cy="66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4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Introdução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799" y="4182891"/>
            <a:ext cx="1385375" cy="92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8"/>
              </a:lnSpc>
              <a:spcBef>
                <a:spcPct val="0"/>
              </a:spcBef>
            </a:pPr>
            <a:r>
              <a:rPr lang="en-US" b="true" sz="5484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3792" y="5365563"/>
            <a:ext cx="10954581" cy="66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4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 que é o Barberloc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5799" y="5158191"/>
            <a:ext cx="1385375" cy="92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8"/>
              </a:lnSpc>
              <a:spcBef>
                <a:spcPct val="0"/>
              </a:spcBef>
            </a:pPr>
            <a:r>
              <a:rPr lang="en-US" b="true" sz="5484" strike="noStrike" u="non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3792" y="6274188"/>
            <a:ext cx="10954581" cy="66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4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Objetivo do Projeto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5799" y="6066817"/>
            <a:ext cx="1385375" cy="92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8"/>
              </a:lnSpc>
              <a:spcBef>
                <a:spcPct val="0"/>
              </a:spcBef>
            </a:pPr>
            <a:r>
              <a:rPr lang="en-US" b="true" sz="5484" strike="noStrike" u="non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73792" y="7249488"/>
            <a:ext cx="10954581" cy="66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4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ODS-Trabalho Digno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799" y="7042117"/>
            <a:ext cx="1385375" cy="92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8"/>
              </a:lnSpc>
              <a:spcBef>
                <a:spcPct val="0"/>
              </a:spcBef>
            </a:pPr>
            <a:r>
              <a:rPr lang="en-US" b="true" sz="5484" strike="noStrike" u="non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75855" y="3793954"/>
            <a:ext cx="11032505" cy="758825"/>
            <a:chOff x="0" y="0"/>
            <a:chExt cx="14710006" cy="10117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395322" y="148590"/>
              <a:ext cx="13314684" cy="863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3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Alfa Slab One"/>
                  <a:ea typeface="Alfa Slab One"/>
                  <a:cs typeface="Alfa Slab One"/>
                  <a:sym typeface="Alfa Slab One"/>
                </a:rPr>
                <a:t>Tecnologia Utilizada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1683846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75855" y="4769254"/>
            <a:ext cx="11032505" cy="758825"/>
            <a:chOff x="0" y="0"/>
            <a:chExt cx="14710006" cy="101176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1395322" y="148590"/>
              <a:ext cx="13314684" cy="863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3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Alfa Slab One"/>
                  <a:ea typeface="Alfa Slab One"/>
                  <a:cs typeface="Alfa Slab One"/>
                  <a:sym typeface="Alfa Slab One"/>
                </a:rPr>
                <a:t>Linguagens Utilizadas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04775"/>
              <a:ext cx="1683846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75855" y="5744554"/>
            <a:ext cx="11032505" cy="758825"/>
            <a:chOff x="0" y="0"/>
            <a:chExt cx="14710006" cy="1011767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395322" y="148590"/>
              <a:ext cx="13314684" cy="863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3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Alfa Slab One"/>
                  <a:ea typeface="Alfa Slab One"/>
                  <a:cs typeface="Alfa Slab One"/>
                  <a:sym typeface="Alfa Slab One"/>
                </a:rPr>
                <a:t>Fases de Desenvolvimento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104775"/>
              <a:ext cx="1683846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75855" y="6653179"/>
            <a:ext cx="11032505" cy="758825"/>
            <a:chOff x="0" y="0"/>
            <a:chExt cx="14710006" cy="1011767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1395322" y="148590"/>
              <a:ext cx="13314684" cy="863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3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Alfa Slab One"/>
                  <a:ea typeface="Alfa Slab One"/>
                  <a:cs typeface="Alfa Slab One"/>
                  <a:sym typeface="Alfa Slab One"/>
                </a:rPr>
                <a:t>Demonstração do Projeto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104775"/>
              <a:ext cx="1683846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75855" y="7628480"/>
            <a:ext cx="11032505" cy="758825"/>
            <a:chOff x="0" y="0"/>
            <a:chExt cx="14710006" cy="1011767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1395322" y="148590"/>
              <a:ext cx="13314684" cy="8631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3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Alfa Slab One"/>
                  <a:ea typeface="Alfa Slab One"/>
                  <a:cs typeface="Alfa Slab One"/>
                  <a:sym typeface="Alfa Slab One"/>
                </a:rPr>
                <a:t>Agradecimentos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-104775"/>
              <a:ext cx="1683846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true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</a:t>
              </a:r>
              <a:r>
                <a:rPr lang="en-US" b="true" sz="5000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774775" y="9549355"/>
            <a:ext cx="96905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02/10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5385" y="8229600"/>
            <a:ext cx="302615" cy="1028700"/>
            <a:chOff x="0" y="0"/>
            <a:chExt cx="2391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103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03">
                  <a:moveTo>
                    <a:pt x="0" y="0"/>
                  </a:moveTo>
                  <a:lnTo>
                    <a:pt x="239103" y="0"/>
                  </a:lnTo>
                  <a:lnTo>
                    <a:pt x="239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1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8944" y="2023597"/>
            <a:ext cx="8315056" cy="48205"/>
            <a:chOff x="0" y="0"/>
            <a:chExt cx="6569921" cy="380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9921" cy="38088"/>
            </a:xfrm>
            <a:custGeom>
              <a:avLst/>
              <a:gdLst/>
              <a:ahLst/>
              <a:cxnLst/>
              <a:rect r="r" b="b" t="t" l="l"/>
              <a:pathLst>
                <a:path h="38088" w="6569921">
                  <a:moveTo>
                    <a:pt x="0" y="0"/>
                  </a:moveTo>
                  <a:lnTo>
                    <a:pt x="6569921" y="0"/>
                  </a:lnTo>
                  <a:lnTo>
                    <a:pt x="6569921" y="38088"/>
                  </a:lnTo>
                  <a:lnTo>
                    <a:pt x="0" y="38088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69921" cy="76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77693" y="3991943"/>
            <a:ext cx="11851435" cy="1625211"/>
            <a:chOff x="0" y="0"/>
            <a:chExt cx="3121366" cy="4280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21366" cy="428039"/>
            </a:xfrm>
            <a:custGeom>
              <a:avLst/>
              <a:gdLst/>
              <a:ahLst/>
              <a:cxnLst/>
              <a:rect r="r" b="b" t="t" l="l"/>
              <a:pathLst>
                <a:path h="428039" w="3121366">
                  <a:moveTo>
                    <a:pt x="0" y="0"/>
                  </a:moveTo>
                  <a:lnTo>
                    <a:pt x="3121366" y="0"/>
                  </a:lnTo>
                  <a:lnTo>
                    <a:pt x="3121366" y="428039"/>
                  </a:lnTo>
                  <a:lnTo>
                    <a:pt x="0" y="428039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21366" cy="46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2788264" y="3991943"/>
            <a:ext cx="27751" cy="1625211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2477693" y="6091050"/>
            <a:ext cx="11851435" cy="1625211"/>
            <a:chOff x="0" y="0"/>
            <a:chExt cx="3121366" cy="4280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21366" cy="428039"/>
            </a:xfrm>
            <a:custGeom>
              <a:avLst/>
              <a:gdLst/>
              <a:ahLst/>
              <a:cxnLst/>
              <a:rect r="r" b="b" t="t" l="l"/>
              <a:pathLst>
                <a:path h="428039" w="3121366">
                  <a:moveTo>
                    <a:pt x="0" y="0"/>
                  </a:moveTo>
                  <a:lnTo>
                    <a:pt x="3121366" y="0"/>
                  </a:lnTo>
                  <a:lnTo>
                    <a:pt x="3121366" y="428039"/>
                  </a:lnTo>
                  <a:lnTo>
                    <a:pt x="0" y="428039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21366" cy="46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>
            <a:off x="2788264" y="6091050"/>
            <a:ext cx="27751" cy="1625211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2477693" y="8123482"/>
            <a:ext cx="11851435" cy="1625211"/>
            <a:chOff x="0" y="0"/>
            <a:chExt cx="3121366" cy="4280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21366" cy="428039"/>
            </a:xfrm>
            <a:custGeom>
              <a:avLst/>
              <a:gdLst/>
              <a:ahLst/>
              <a:cxnLst/>
              <a:rect r="r" b="b" t="t" l="l"/>
              <a:pathLst>
                <a:path h="428039" w="3121366">
                  <a:moveTo>
                    <a:pt x="0" y="0"/>
                  </a:moveTo>
                  <a:lnTo>
                    <a:pt x="3121366" y="0"/>
                  </a:lnTo>
                  <a:lnTo>
                    <a:pt x="3121366" y="428039"/>
                  </a:lnTo>
                  <a:lnTo>
                    <a:pt x="0" y="428039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21366" cy="466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2788264" y="8123482"/>
            <a:ext cx="27751" cy="1625211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1312113">
            <a:off x="14770371" y="1299691"/>
            <a:ext cx="1633490" cy="1877575"/>
          </a:xfrm>
          <a:custGeom>
            <a:avLst/>
            <a:gdLst/>
            <a:ahLst/>
            <a:cxnLst/>
            <a:rect r="r" b="b" t="t" l="l"/>
            <a:pathLst>
              <a:path h="1877575" w="1633490">
                <a:moveTo>
                  <a:pt x="0" y="0"/>
                </a:moveTo>
                <a:lnTo>
                  <a:pt x="1633490" y="0"/>
                </a:lnTo>
                <a:lnTo>
                  <a:pt x="1633490" y="1877574"/>
                </a:lnTo>
                <a:lnTo>
                  <a:pt x="0" y="1877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8944" y="977300"/>
            <a:ext cx="12572087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 que é o Barberloc?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8944" y="2470793"/>
            <a:ext cx="1407670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BarberLoc nasce para modernizar e centralizar o setor das barbearias e cabeleireiros — tradicionalmente fragmentado e dependente de agendamentos por telefone ou redes sociais.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94646" y="4100107"/>
            <a:ext cx="62484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Agregador de Profissionais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94646" y="4665257"/>
            <a:ext cx="1261566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Geolocaliza barbearias próximas, exibe avaliações reais e permite marcações 100% online.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194646" y="6199214"/>
            <a:ext cx="32112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“Uber Barber”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94646" y="6764364"/>
            <a:ext cx="1261566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Geolo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caliza barbearias próximas, exibe avaliações reais e permite marcações 100% online.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194646" y="8231646"/>
            <a:ext cx="421565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Solução Completa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71454" y="8796796"/>
            <a:ext cx="1261566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dados relacional, backend seguro (MVC) e frontend responsivo com mapas integrados.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6773644" y="9577560"/>
            <a:ext cx="9713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03/10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3870" y="1595500"/>
            <a:ext cx="8785531" cy="47625"/>
            <a:chOff x="0" y="0"/>
            <a:chExt cx="6941654" cy="37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1654" cy="37630"/>
            </a:xfrm>
            <a:custGeom>
              <a:avLst/>
              <a:gdLst/>
              <a:ahLst/>
              <a:cxnLst/>
              <a:rect r="r" b="b" t="t" l="l"/>
              <a:pathLst>
                <a:path h="37630" w="6941654">
                  <a:moveTo>
                    <a:pt x="0" y="0"/>
                  </a:moveTo>
                  <a:lnTo>
                    <a:pt x="6941654" y="0"/>
                  </a:lnTo>
                  <a:lnTo>
                    <a:pt x="6941654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41654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62198" y="2947146"/>
            <a:ext cx="6924783" cy="2823552"/>
            <a:chOff x="0" y="0"/>
            <a:chExt cx="2072034" cy="844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33004" y="3425786"/>
            <a:ext cx="1810930" cy="1810930"/>
          </a:xfrm>
          <a:custGeom>
            <a:avLst/>
            <a:gdLst/>
            <a:ahLst/>
            <a:cxnLst/>
            <a:rect r="r" b="b" t="t" l="l"/>
            <a:pathLst>
              <a:path h="1810930" w="1810930">
                <a:moveTo>
                  <a:pt x="0" y="0"/>
                </a:moveTo>
                <a:lnTo>
                  <a:pt x="1810931" y="0"/>
                </a:lnTo>
                <a:lnTo>
                  <a:pt x="1810931" y="1810931"/>
                </a:lnTo>
                <a:lnTo>
                  <a:pt x="0" y="18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436571" y="2919475"/>
            <a:ext cx="6924783" cy="2823552"/>
            <a:chOff x="0" y="0"/>
            <a:chExt cx="2072034" cy="8448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26646" y="6320817"/>
            <a:ext cx="6924783" cy="2823552"/>
            <a:chOff x="0" y="0"/>
            <a:chExt cx="2072034" cy="8448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7543724" y="10100768"/>
            <a:ext cx="7867254" cy="3207841"/>
            <a:chOff x="0" y="0"/>
            <a:chExt cx="2072034" cy="8448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-7349671" y="10644552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436571" y="6434748"/>
            <a:ext cx="6924783" cy="2823552"/>
            <a:chOff x="0" y="0"/>
            <a:chExt cx="2072034" cy="8448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052430" y="3425786"/>
            <a:ext cx="1243639" cy="1688892"/>
          </a:xfrm>
          <a:custGeom>
            <a:avLst/>
            <a:gdLst/>
            <a:ahLst/>
            <a:cxnLst/>
            <a:rect r="r" b="b" t="t" l="l"/>
            <a:pathLst>
              <a:path h="1688892" w="1243639">
                <a:moveTo>
                  <a:pt x="0" y="0"/>
                </a:moveTo>
                <a:lnTo>
                  <a:pt x="1243639" y="0"/>
                </a:lnTo>
                <a:lnTo>
                  <a:pt x="1243639" y="1688892"/>
                </a:lnTo>
                <a:lnTo>
                  <a:pt x="0" y="1688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25301" y="6913388"/>
            <a:ext cx="1679616" cy="1499057"/>
          </a:xfrm>
          <a:custGeom>
            <a:avLst/>
            <a:gdLst/>
            <a:ahLst/>
            <a:cxnLst/>
            <a:rect r="r" b="b" t="t" l="l"/>
            <a:pathLst>
              <a:path h="1499057" w="1679616">
                <a:moveTo>
                  <a:pt x="0" y="0"/>
                </a:moveTo>
                <a:lnTo>
                  <a:pt x="1679616" y="0"/>
                </a:lnTo>
                <a:lnTo>
                  <a:pt x="1679616" y="1499057"/>
                </a:lnTo>
                <a:lnTo>
                  <a:pt x="0" y="14990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891524" y="7121241"/>
            <a:ext cx="1611185" cy="1611185"/>
          </a:xfrm>
          <a:custGeom>
            <a:avLst/>
            <a:gdLst/>
            <a:ahLst/>
            <a:cxnLst/>
            <a:rect r="r" b="b" t="t" l="l"/>
            <a:pathLst>
              <a:path h="1611185" w="1611185">
                <a:moveTo>
                  <a:pt x="0" y="0"/>
                </a:moveTo>
                <a:lnTo>
                  <a:pt x="1611185" y="0"/>
                </a:lnTo>
                <a:lnTo>
                  <a:pt x="1611185" y="1611186"/>
                </a:lnTo>
                <a:lnTo>
                  <a:pt x="0" y="16111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672803" y="624202"/>
            <a:ext cx="10659800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Objetivos do Projeto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8356" y="3719323"/>
            <a:ext cx="5178626" cy="75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Elimin</a:t>
            </a: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agendamentos manuais</a:t>
            </a: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943935" y="4444277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bstituir chamadas e mensagens por um sistema digital seguro.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82728" y="3691652"/>
            <a:ext cx="5178626" cy="3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Geolocaliz</a:t>
            </a: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ação e avaliações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93528" y="4510407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Encon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trar barbearias próximas com base em localização e opiniões reais.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72803" y="7092994"/>
            <a:ext cx="5178626" cy="3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</a:t>
            </a: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rviço ao domicílio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48051" y="7817949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bstituir chamadas e mensagens por um sistema digital seguro.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-5559913" y="10973700"/>
            <a:ext cx="58834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Elimin</a:t>
            </a: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agendamentos manuais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-5019983" y="11786500"/>
            <a:ext cx="472280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bstituir chamadas e mensagens por um sistema digital seguro.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182728" y="7206925"/>
            <a:ext cx="5178626" cy="3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rquitetura robusta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96422" y="7814504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BD 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relacional + backend MVC + frontend responsivo.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69775" y="9618807"/>
            <a:ext cx="97905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04/10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5385" y="8229600"/>
            <a:ext cx="302615" cy="1028700"/>
            <a:chOff x="0" y="0"/>
            <a:chExt cx="2391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103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03">
                  <a:moveTo>
                    <a:pt x="0" y="0"/>
                  </a:moveTo>
                  <a:lnTo>
                    <a:pt x="239103" y="0"/>
                  </a:lnTo>
                  <a:lnTo>
                    <a:pt x="239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1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56455" y="2130404"/>
            <a:ext cx="11179766" cy="47625"/>
            <a:chOff x="0" y="0"/>
            <a:chExt cx="8833395" cy="37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33396" cy="37630"/>
            </a:xfrm>
            <a:custGeom>
              <a:avLst/>
              <a:gdLst/>
              <a:ahLst/>
              <a:cxnLst/>
              <a:rect r="r" b="b" t="t" l="l"/>
              <a:pathLst>
                <a:path h="37630" w="8833396">
                  <a:moveTo>
                    <a:pt x="0" y="0"/>
                  </a:moveTo>
                  <a:lnTo>
                    <a:pt x="8833396" y="0"/>
                  </a:lnTo>
                  <a:lnTo>
                    <a:pt x="8833396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833395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87951" y="4168574"/>
            <a:ext cx="3430303" cy="34303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ODS 8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Trabalho Digno e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Crescimento Económico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1112" y="3479497"/>
            <a:ext cx="3654224" cy="1219408"/>
            <a:chOff x="0" y="0"/>
            <a:chExt cx="962429" cy="3211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429" cy="321161"/>
            </a:xfrm>
            <a:custGeom>
              <a:avLst/>
              <a:gdLst/>
              <a:ahLst/>
              <a:cxnLst/>
              <a:rect r="r" b="b" t="t" l="l"/>
              <a:pathLst>
                <a:path h="321161" w="962429">
                  <a:moveTo>
                    <a:pt x="108050" y="0"/>
                  </a:moveTo>
                  <a:lnTo>
                    <a:pt x="854380" y="0"/>
                  </a:lnTo>
                  <a:cubicBezTo>
                    <a:pt x="914054" y="0"/>
                    <a:pt x="962429" y="48376"/>
                    <a:pt x="962429" y="108050"/>
                  </a:cubicBezTo>
                  <a:lnTo>
                    <a:pt x="962429" y="213111"/>
                  </a:lnTo>
                  <a:cubicBezTo>
                    <a:pt x="962429" y="272786"/>
                    <a:pt x="914054" y="321161"/>
                    <a:pt x="854380" y="321161"/>
                  </a:cubicBezTo>
                  <a:lnTo>
                    <a:pt x="108050" y="321161"/>
                  </a:lnTo>
                  <a:cubicBezTo>
                    <a:pt x="79393" y="321161"/>
                    <a:pt x="51910" y="309777"/>
                    <a:pt x="31647" y="289514"/>
                  </a:cubicBezTo>
                  <a:cubicBezTo>
                    <a:pt x="11384" y="269251"/>
                    <a:pt x="0" y="241768"/>
                    <a:pt x="0" y="213111"/>
                  </a:cubicBezTo>
                  <a:lnTo>
                    <a:pt x="0" y="108050"/>
                  </a:lnTo>
                  <a:cubicBezTo>
                    <a:pt x="0" y="48376"/>
                    <a:pt x="48376" y="0"/>
                    <a:pt x="1080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545C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2429" cy="35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Democratização de ferramentas de gestão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969746" y="942975"/>
            <a:ext cx="10348509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ODS 8 — Trabalho Digno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1422" y="3664396"/>
            <a:ext cx="5876648" cy="38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BarberLoc posiciona-se como motor de transição digital para pequenos negócios e barbeiros freelancers, democratizando o acesso a ferramentas que antes exigiam investimento elevado.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Impacto Real: A plataforma reduz barreiras de entrada ao mercado digital, permitindo que barbeiros independentes e pequenas barbearias compitam em igualdade com estabelecimentos de maior dimensão.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132620" y="3479497"/>
            <a:ext cx="3654224" cy="1219408"/>
            <a:chOff x="0" y="0"/>
            <a:chExt cx="962429" cy="321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2429" cy="321161"/>
            </a:xfrm>
            <a:custGeom>
              <a:avLst/>
              <a:gdLst/>
              <a:ahLst/>
              <a:cxnLst/>
              <a:rect r="r" b="b" t="t" l="l"/>
              <a:pathLst>
                <a:path h="321161" w="962429">
                  <a:moveTo>
                    <a:pt x="108050" y="0"/>
                  </a:moveTo>
                  <a:lnTo>
                    <a:pt x="854380" y="0"/>
                  </a:lnTo>
                  <a:cubicBezTo>
                    <a:pt x="914054" y="0"/>
                    <a:pt x="962429" y="48376"/>
                    <a:pt x="962429" y="108050"/>
                  </a:cubicBezTo>
                  <a:lnTo>
                    <a:pt x="962429" y="213111"/>
                  </a:lnTo>
                  <a:cubicBezTo>
                    <a:pt x="962429" y="272786"/>
                    <a:pt x="914054" y="321161"/>
                    <a:pt x="854380" y="321161"/>
                  </a:cubicBezTo>
                  <a:lnTo>
                    <a:pt x="108050" y="321161"/>
                  </a:lnTo>
                  <a:cubicBezTo>
                    <a:pt x="79393" y="321161"/>
                    <a:pt x="51910" y="309777"/>
                    <a:pt x="31647" y="289514"/>
                  </a:cubicBezTo>
                  <a:cubicBezTo>
                    <a:pt x="11384" y="269251"/>
                    <a:pt x="0" y="241768"/>
                    <a:pt x="0" y="213111"/>
                  </a:cubicBezTo>
                  <a:lnTo>
                    <a:pt x="0" y="108050"/>
                  </a:lnTo>
                  <a:cubicBezTo>
                    <a:pt x="0" y="48376"/>
                    <a:pt x="48376" y="0"/>
                    <a:pt x="1080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545CD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62429" cy="35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33727" y="6318488"/>
            <a:ext cx="3654224" cy="1219408"/>
            <a:chOff x="0" y="0"/>
            <a:chExt cx="962429" cy="321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2429" cy="321161"/>
            </a:xfrm>
            <a:custGeom>
              <a:avLst/>
              <a:gdLst/>
              <a:ahLst/>
              <a:cxnLst/>
              <a:rect r="r" b="b" t="t" l="l"/>
              <a:pathLst>
                <a:path h="321161" w="962429">
                  <a:moveTo>
                    <a:pt x="108050" y="0"/>
                  </a:moveTo>
                  <a:lnTo>
                    <a:pt x="854380" y="0"/>
                  </a:lnTo>
                  <a:cubicBezTo>
                    <a:pt x="914054" y="0"/>
                    <a:pt x="962429" y="48376"/>
                    <a:pt x="962429" y="108050"/>
                  </a:cubicBezTo>
                  <a:lnTo>
                    <a:pt x="962429" y="213111"/>
                  </a:lnTo>
                  <a:cubicBezTo>
                    <a:pt x="962429" y="272786"/>
                    <a:pt x="914054" y="321161"/>
                    <a:pt x="854380" y="321161"/>
                  </a:cubicBezTo>
                  <a:lnTo>
                    <a:pt x="108050" y="321161"/>
                  </a:lnTo>
                  <a:cubicBezTo>
                    <a:pt x="79393" y="321161"/>
                    <a:pt x="51910" y="309777"/>
                    <a:pt x="31647" y="289514"/>
                  </a:cubicBezTo>
                  <a:cubicBezTo>
                    <a:pt x="11384" y="269251"/>
                    <a:pt x="0" y="241768"/>
                    <a:pt x="0" y="213111"/>
                  </a:cubicBezTo>
                  <a:lnTo>
                    <a:pt x="0" y="108050"/>
                  </a:lnTo>
                  <a:cubicBezTo>
                    <a:pt x="0" y="48376"/>
                    <a:pt x="48376" y="0"/>
                    <a:pt x="1080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545CD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62429" cy="35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530419" y="6257618"/>
            <a:ext cx="3654224" cy="1219408"/>
            <a:chOff x="0" y="0"/>
            <a:chExt cx="962429" cy="3211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2429" cy="321161"/>
            </a:xfrm>
            <a:custGeom>
              <a:avLst/>
              <a:gdLst/>
              <a:ahLst/>
              <a:cxnLst/>
              <a:rect r="r" b="b" t="t" l="l"/>
              <a:pathLst>
                <a:path h="321161" w="962429">
                  <a:moveTo>
                    <a:pt x="108050" y="0"/>
                  </a:moveTo>
                  <a:lnTo>
                    <a:pt x="854380" y="0"/>
                  </a:lnTo>
                  <a:cubicBezTo>
                    <a:pt x="914054" y="0"/>
                    <a:pt x="962429" y="48376"/>
                    <a:pt x="962429" y="108050"/>
                  </a:cubicBezTo>
                  <a:lnTo>
                    <a:pt x="962429" y="213111"/>
                  </a:lnTo>
                  <a:cubicBezTo>
                    <a:pt x="962429" y="272786"/>
                    <a:pt x="914054" y="321161"/>
                    <a:pt x="854380" y="321161"/>
                  </a:cubicBezTo>
                  <a:lnTo>
                    <a:pt x="108050" y="321161"/>
                  </a:lnTo>
                  <a:cubicBezTo>
                    <a:pt x="79393" y="321161"/>
                    <a:pt x="51910" y="309777"/>
                    <a:pt x="31647" y="289514"/>
                  </a:cubicBezTo>
                  <a:cubicBezTo>
                    <a:pt x="11384" y="269251"/>
                    <a:pt x="0" y="241768"/>
                    <a:pt x="0" y="213111"/>
                  </a:cubicBezTo>
                  <a:lnTo>
                    <a:pt x="0" y="108050"/>
                  </a:lnTo>
                  <a:cubicBezTo>
                    <a:pt x="0" y="48376"/>
                    <a:pt x="48376" y="0"/>
                    <a:pt x="1080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545CD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62429" cy="35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87951" y="8038892"/>
            <a:ext cx="3654224" cy="1219408"/>
            <a:chOff x="0" y="0"/>
            <a:chExt cx="962429" cy="3211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2429" cy="321161"/>
            </a:xfrm>
            <a:custGeom>
              <a:avLst/>
              <a:gdLst/>
              <a:ahLst/>
              <a:cxnLst/>
              <a:rect r="r" b="b" t="t" l="l"/>
              <a:pathLst>
                <a:path h="321161" w="962429">
                  <a:moveTo>
                    <a:pt x="108050" y="0"/>
                  </a:moveTo>
                  <a:lnTo>
                    <a:pt x="854380" y="0"/>
                  </a:lnTo>
                  <a:cubicBezTo>
                    <a:pt x="914054" y="0"/>
                    <a:pt x="962429" y="48376"/>
                    <a:pt x="962429" y="108050"/>
                  </a:cubicBezTo>
                  <a:lnTo>
                    <a:pt x="962429" y="213111"/>
                  </a:lnTo>
                  <a:cubicBezTo>
                    <a:pt x="962429" y="272786"/>
                    <a:pt x="914054" y="321161"/>
                    <a:pt x="854380" y="321161"/>
                  </a:cubicBezTo>
                  <a:lnTo>
                    <a:pt x="108050" y="321161"/>
                  </a:lnTo>
                  <a:cubicBezTo>
                    <a:pt x="79393" y="321161"/>
                    <a:pt x="51910" y="309777"/>
                    <a:pt x="31647" y="289514"/>
                  </a:cubicBezTo>
                  <a:cubicBezTo>
                    <a:pt x="11384" y="269251"/>
                    <a:pt x="0" y="241768"/>
                    <a:pt x="0" y="213111"/>
                  </a:cubicBezTo>
                  <a:lnTo>
                    <a:pt x="0" y="108050"/>
                  </a:lnTo>
                  <a:cubicBezTo>
                    <a:pt x="0" y="48376"/>
                    <a:pt x="48376" y="0"/>
                    <a:pt x="1080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545CD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62429" cy="35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879918" y="3714551"/>
            <a:ext cx="31966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cratização de ferramentas de gestão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62533" y="6492672"/>
            <a:ext cx="31966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mento 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ao empreendedorismo local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21643" y="8273946"/>
            <a:ext cx="31966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mpulso à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economia sustentável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759225" y="6492672"/>
            <a:ext cx="31966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mbate à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informalidade no setor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61426" y="3714551"/>
            <a:ext cx="319661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Visibi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lidade de</a:t>
            </a:r>
            <a:r>
              <a:rPr lang="en-US" b="true" sz="2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mercado para pequenos negócios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922532" y="9771207"/>
            <a:ext cx="9783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05/10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6598" y="1808269"/>
            <a:ext cx="8709141" cy="47987"/>
            <a:chOff x="0" y="0"/>
            <a:chExt cx="6881296" cy="379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81296" cy="37915"/>
            </a:xfrm>
            <a:custGeom>
              <a:avLst/>
              <a:gdLst/>
              <a:ahLst/>
              <a:cxnLst/>
              <a:rect r="r" b="b" t="t" l="l"/>
              <a:pathLst>
                <a:path h="37915" w="6881296">
                  <a:moveTo>
                    <a:pt x="0" y="0"/>
                  </a:moveTo>
                  <a:lnTo>
                    <a:pt x="6881296" y="0"/>
                  </a:lnTo>
                  <a:lnTo>
                    <a:pt x="6881296" y="37915"/>
                  </a:lnTo>
                  <a:lnTo>
                    <a:pt x="0" y="37915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881296" cy="7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352" y="6304715"/>
            <a:ext cx="5424156" cy="2211677"/>
            <a:chOff x="0" y="0"/>
            <a:chExt cx="2072034" cy="844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7543724" y="10100768"/>
            <a:ext cx="7867254" cy="3207841"/>
            <a:chOff x="0" y="0"/>
            <a:chExt cx="2072034" cy="844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7349671" y="10644552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567847" y="6393957"/>
            <a:ext cx="5424156" cy="2211677"/>
            <a:chOff x="0" y="0"/>
            <a:chExt cx="2072034" cy="8448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8492" y="6393957"/>
            <a:ext cx="5424156" cy="2211677"/>
            <a:chOff x="0" y="0"/>
            <a:chExt cx="2072034" cy="8448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5352" y="3418356"/>
            <a:ext cx="5424156" cy="2211677"/>
            <a:chOff x="0" y="0"/>
            <a:chExt cx="2072034" cy="844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67847" y="3507597"/>
            <a:ext cx="5424156" cy="2211677"/>
            <a:chOff x="0" y="0"/>
            <a:chExt cx="2072034" cy="8448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78492" y="3507597"/>
            <a:ext cx="5424156" cy="2211677"/>
            <a:chOff x="0" y="0"/>
            <a:chExt cx="2072034" cy="8448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28700" y="3734975"/>
            <a:ext cx="1396670" cy="1652864"/>
          </a:xfrm>
          <a:custGeom>
            <a:avLst/>
            <a:gdLst/>
            <a:ahLst/>
            <a:cxnLst/>
            <a:rect r="r" b="b" t="t" l="l"/>
            <a:pathLst>
              <a:path h="1652864" w="1396670">
                <a:moveTo>
                  <a:pt x="0" y="0"/>
                </a:moveTo>
                <a:lnTo>
                  <a:pt x="1396670" y="0"/>
                </a:lnTo>
                <a:lnTo>
                  <a:pt x="1396670" y="1652865"/>
                </a:lnTo>
                <a:lnTo>
                  <a:pt x="0" y="1652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194348" y="3776918"/>
            <a:ext cx="1300291" cy="1568978"/>
          </a:xfrm>
          <a:custGeom>
            <a:avLst/>
            <a:gdLst/>
            <a:ahLst/>
            <a:cxnLst/>
            <a:rect r="r" b="b" t="t" l="l"/>
            <a:pathLst>
              <a:path h="1568978" w="1300291">
                <a:moveTo>
                  <a:pt x="0" y="0"/>
                </a:moveTo>
                <a:lnTo>
                  <a:pt x="1300291" y="0"/>
                </a:lnTo>
                <a:lnTo>
                  <a:pt x="1300291" y="1568978"/>
                </a:lnTo>
                <a:lnTo>
                  <a:pt x="0" y="1568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153439" y="3883310"/>
            <a:ext cx="785621" cy="1454855"/>
          </a:xfrm>
          <a:custGeom>
            <a:avLst/>
            <a:gdLst/>
            <a:ahLst/>
            <a:cxnLst/>
            <a:rect r="r" b="b" t="t" l="l"/>
            <a:pathLst>
              <a:path h="1454855" w="785621">
                <a:moveTo>
                  <a:pt x="0" y="0"/>
                </a:moveTo>
                <a:lnTo>
                  <a:pt x="785622" y="0"/>
                </a:lnTo>
                <a:lnTo>
                  <a:pt x="785622" y="1454855"/>
                </a:lnTo>
                <a:lnTo>
                  <a:pt x="0" y="14548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28700" y="6757356"/>
            <a:ext cx="1298230" cy="1306395"/>
          </a:xfrm>
          <a:custGeom>
            <a:avLst/>
            <a:gdLst/>
            <a:ahLst/>
            <a:cxnLst/>
            <a:rect r="r" b="b" t="t" l="l"/>
            <a:pathLst>
              <a:path h="1306395" w="1298230">
                <a:moveTo>
                  <a:pt x="0" y="0"/>
                </a:moveTo>
                <a:lnTo>
                  <a:pt x="1298230" y="0"/>
                </a:lnTo>
                <a:lnTo>
                  <a:pt x="1298230" y="1306396"/>
                </a:lnTo>
                <a:lnTo>
                  <a:pt x="0" y="1306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652417" y="6901220"/>
            <a:ext cx="1286644" cy="1191754"/>
          </a:xfrm>
          <a:custGeom>
            <a:avLst/>
            <a:gdLst/>
            <a:ahLst/>
            <a:cxnLst/>
            <a:rect r="r" b="b" t="t" l="l"/>
            <a:pathLst>
              <a:path h="1191754" w="1286644">
                <a:moveTo>
                  <a:pt x="0" y="0"/>
                </a:moveTo>
                <a:lnTo>
                  <a:pt x="1286644" y="0"/>
                </a:lnTo>
                <a:lnTo>
                  <a:pt x="1286644" y="1191754"/>
                </a:lnTo>
                <a:lnTo>
                  <a:pt x="0" y="1191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051066" y="6901220"/>
            <a:ext cx="1281648" cy="1177514"/>
          </a:xfrm>
          <a:custGeom>
            <a:avLst/>
            <a:gdLst/>
            <a:ahLst/>
            <a:cxnLst/>
            <a:rect r="r" b="b" t="t" l="l"/>
            <a:pathLst>
              <a:path h="1177514" w="1281648">
                <a:moveTo>
                  <a:pt x="0" y="0"/>
                </a:moveTo>
                <a:lnTo>
                  <a:pt x="1281648" y="0"/>
                </a:lnTo>
                <a:lnTo>
                  <a:pt x="1281648" y="1177514"/>
                </a:lnTo>
                <a:lnTo>
                  <a:pt x="0" y="1177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611268" y="891329"/>
            <a:ext cx="10659800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Tecnologias Utilizadas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53111" y="6910827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APIs Google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25370" y="7471220"/>
            <a:ext cx="3256182" cy="72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Goo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gle Maps JavaScript API e Google Places API para geolocalização integrada.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5559913" y="10973700"/>
            <a:ext cx="58834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Elimin</a:t>
            </a: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agendamentos manuais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-5019983" y="11786500"/>
            <a:ext cx="472280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bstituir chamadas e mensagens por um sistema digital seguro.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935605" y="7000068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Versionamento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94639" y="7468522"/>
            <a:ext cx="3256182" cy="47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 e GitHub p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ara controlo de versões e colaboração no projeto.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546250" y="7000068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</a:t>
            </a:r>
            <a:r>
              <a:rPr lang="en-US" b="true" sz="1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05284" y="7468522"/>
            <a:ext cx="3256182" cy="47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Studio 2026 como ambiente de desenvolvimento.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53111" y="4024467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1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ackend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25370" y="4584860"/>
            <a:ext cx="3256182" cy="72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ASP.NET Cor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8.0 MVC com Entity Framework Core 8.0 (Code-First) e SQL Server.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35605" y="4113709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</a:t>
            </a:r>
            <a:r>
              <a:rPr lang="en-US" b="true" sz="1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enticação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94639" y="4582162"/>
            <a:ext cx="3256182" cy="72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ASP.NET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Core Identity com RBAC e criptografia PBKDF2 para segurança robusta.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546250" y="4113709"/>
            <a:ext cx="4056397" cy="28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</a:pPr>
            <a:r>
              <a:rPr lang="en-US" sz="172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1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rontend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05284" y="4582162"/>
            <a:ext cx="3256182" cy="47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0"/>
              </a:lnSpc>
            </a:pP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Bootstr</a:t>
            </a:r>
            <a:r>
              <a:rPr lang="en-US" sz="13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 5 para design responsivo e consistente em todos os dispositivos.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867654" y="9537646"/>
            <a:ext cx="98762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06/10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13878" y="1666599"/>
            <a:ext cx="9185066" cy="109877"/>
            <a:chOff x="0" y="0"/>
            <a:chExt cx="7257336" cy="86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57336" cy="86816"/>
            </a:xfrm>
            <a:custGeom>
              <a:avLst/>
              <a:gdLst/>
              <a:ahLst/>
              <a:cxnLst/>
              <a:rect r="r" b="b" t="t" l="l"/>
              <a:pathLst>
                <a:path h="86816" w="7257336">
                  <a:moveTo>
                    <a:pt x="0" y="0"/>
                  </a:moveTo>
                  <a:lnTo>
                    <a:pt x="7257336" y="0"/>
                  </a:lnTo>
                  <a:lnTo>
                    <a:pt x="7257336" y="86816"/>
                  </a:lnTo>
                  <a:lnTo>
                    <a:pt x="0" y="86816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57336" cy="12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62198" y="2947146"/>
            <a:ext cx="6924783" cy="2823552"/>
            <a:chOff x="0" y="0"/>
            <a:chExt cx="2072034" cy="8448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6571" y="2919475"/>
            <a:ext cx="6924783" cy="2823552"/>
            <a:chOff x="0" y="0"/>
            <a:chExt cx="2072034" cy="844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8043" y="6828071"/>
            <a:ext cx="5263765" cy="2146279"/>
            <a:chOff x="0" y="0"/>
            <a:chExt cx="2072034" cy="8448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7543724" y="10100768"/>
            <a:ext cx="7867254" cy="3207841"/>
            <a:chOff x="0" y="0"/>
            <a:chExt cx="2072034" cy="8448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7349671" y="10644552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936594" y="6914673"/>
            <a:ext cx="5263765" cy="2146279"/>
            <a:chOff x="0" y="0"/>
            <a:chExt cx="2072034" cy="844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577976" y="3787956"/>
            <a:ext cx="1326941" cy="1260594"/>
          </a:xfrm>
          <a:custGeom>
            <a:avLst/>
            <a:gdLst/>
            <a:ahLst/>
            <a:cxnLst/>
            <a:rect r="r" b="b" t="t" l="l"/>
            <a:pathLst>
              <a:path h="1260594" w="1326941">
                <a:moveTo>
                  <a:pt x="0" y="0"/>
                </a:moveTo>
                <a:lnTo>
                  <a:pt x="1326941" y="0"/>
                </a:lnTo>
                <a:lnTo>
                  <a:pt x="1326941" y="1260593"/>
                </a:lnTo>
                <a:lnTo>
                  <a:pt x="0" y="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77548" y="3757423"/>
            <a:ext cx="1915980" cy="1448668"/>
          </a:xfrm>
          <a:custGeom>
            <a:avLst/>
            <a:gdLst/>
            <a:ahLst/>
            <a:cxnLst/>
            <a:rect r="r" b="b" t="t" l="l"/>
            <a:pathLst>
              <a:path h="1448668" w="1915980">
                <a:moveTo>
                  <a:pt x="0" y="0"/>
                </a:moveTo>
                <a:lnTo>
                  <a:pt x="1915980" y="0"/>
                </a:lnTo>
                <a:lnTo>
                  <a:pt x="1915980" y="1448668"/>
                </a:lnTo>
                <a:lnTo>
                  <a:pt x="0" y="1448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9951" t="-101076" r="-23041" b="-1698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16312" y="7123519"/>
            <a:ext cx="1315482" cy="1315482"/>
          </a:xfrm>
          <a:custGeom>
            <a:avLst/>
            <a:gdLst/>
            <a:ahLst/>
            <a:cxnLst/>
            <a:rect r="r" b="b" t="t" l="l"/>
            <a:pathLst>
              <a:path h="1315482" w="1315482">
                <a:moveTo>
                  <a:pt x="0" y="0"/>
                </a:moveTo>
                <a:lnTo>
                  <a:pt x="1315482" y="0"/>
                </a:lnTo>
                <a:lnTo>
                  <a:pt x="1315482" y="1315483"/>
                </a:lnTo>
                <a:lnTo>
                  <a:pt x="0" y="13154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397085" y="7241556"/>
            <a:ext cx="1053797" cy="1319307"/>
          </a:xfrm>
          <a:custGeom>
            <a:avLst/>
            <a:gdLst/>
            <a:ahLst/>
            <a:cxnLst/>
            <a:rect r="r" b="b" t="t" l="l"/>
            <a:pathLst>
              <a:path h="1319307" w="1053797">
                <a:moveTo>
                  <a:pt x="0" y="0"/>
                </a:moveTo>
                <a:lnTo>
                  <a:pt x="1053797" y="0"/>
                </a:lnTo>
                <a:lnTo>
                  <a:pt x="1053797" y="1319308"/>
                </a:lnTo>
                <a:lnTo>
                  <a:pt x="0" y="13193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591351" y="549634"/>
            <a:ext cx="10659800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Linguagens Utilizadas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08356" y="3700273"/>
            <a:ext cx="5178626" cy="48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C#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48051" y="4539228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Lóg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ica de negócio, controladores e modelos do backend.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82728" y="3691652"/>
            <a:ext cx="5178626" cy="36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</a:t>
            </a:r>
            <a:r>
              <a:rPr lang="en-US" b="true" sz="2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CSS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693528" y="4510407"/>
            <a:ext cx="4157026" cy="60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</a:t>
            </a:r>
            <a:r>
              <a:rPr lang="en-US" sz="17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trutura semântica e identidade visual.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55357" y="7405890"/>
            <a:ext cx="3936451" cy="28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</a:t>
            </a:r>
            <a:r>
              <a:rPr lang="en-US" b="true" sz="16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vaScript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16609" y="7959237"/>
            <a:ext cx="3159898" cy="46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tegração assíncrona com APIs Google e validações no cliente.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-5559913" y="10973700"/>
            <a:ext cx="58834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Elimin</a:t>
            </a: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agendamentos manuais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-5019983" y="11786500"/>
            <a:ext cx="472280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bstituir chamadas e mensagens por um sistema digital seguro.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8263908" y="7492492"/>
            <a:ext cx="3936451" cy="28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S</a:t>
            </a:r>
            <a:r>
              <a:rPr lang="en-US" b="true" sz="16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erver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06411" y="7956619"/>
            <a:ext cx="3159898" cy="46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Manipu</a:t>
            </a: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lação da base de dados via Entity Framework Core.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381334" y="6914673"/>
            <a:ext cx="5263765" cy="2146279"/>
            <a:chOff x="0" y="0"/>
            <a:chExt cx="2072034" cy="8448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2034" cy="844863"/>
            </a:xfrm>
            <a:custGeom>
              <a:avLst/>
              <a:gdLst/>
              <a:ahLst/>
              <a:cxnLst/>
              <a:rect r="r" b="b" t="t" l="l"/>
              <a:pathLst>
                <a:path h="844863" w="2072034">
                  <a:moveTo>
                    <a:pt x="0" y="0"/>
                  </a:moveTo>
                  <a:lnTo>
                    <a:pt x="2072034" y="0"/>
                  </a:lnTo>
                  <a:lnTo>
                    <a:pt x="2072034" y="844863"/>
                  </a:lnTo>
                  <a:lnTo>
                    <a:pt x="0" y="844863"/>
                  </a:lnTo>
                  <a:close/>
                </a:path>
              </a:pathLst>
            </a:custGeom>
            <a:solidFill>
              <a:srgbClr val="0545CD"/>
            </a:solidFill>
            <a:ln w="9525" cap="sq">
              <a:solidFill>
                <a:srgbClr val="0545CD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072034" cy="882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08648" y="7492492"/>
            <a:ext cx="3936451" cy="28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67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Razo</a:t>
            </a:r>
            <a:r>
              <a:rPr lang="en-US" b="true" sz="16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(.cshtml)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51151" y="7956619"/>
            <a:ext cx="3159898" cy="466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Vist</a:t>
            </a:r>
            <a:r>
              <a:rPr lang="en-US" sz="13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 dinâmicas do ASP.NET com renderização no servidor.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54831" y="9578227"/>
            <a:ext cx="95333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07/10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5385" y="8229600"/>
            <a:ext cx="302615" cy="1028700"/>
            <a:chOff x="0" y="0"/>
            <a:chExt cx="2391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103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03">
                  <a:moveTo>
                    <a:pt x="0" y="0"/>
                  </a:moveTo>
                  <a:lnTo>
                    <a:pt x="239103" y="0"/>
                  </a:lnTo>
                  <a:lnTo>
                    <a:pt x="239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1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20699" y="1941557"/>
            <a:ext cx="10074110" cy="47625"/>
            <a:chOff x="0" y="0"/>
            <a:chExt cx="7959790" cy="376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59790" cy="37630"/>
            </a:xfrm>
            <a:custGeom>
              <a:avLst/>
              <a:gdLst/>
              <a:ahLst/>
              <a:cxnLst/>
              <a:rect r="r" b="b" t="t" l="l"/>
              <a:pathLst>
                <a:path h="37630" w="7959790">
                  <a:moveTo>
                    <a:pt x="0" y="0"/>
                  </a:moveTo>
                  <a:lnTo>
                    <a:pt x="7959790" y="0"/>
                  </a:lnTo>
                  <a:lnTo>
                    <a:pt x="7959790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959790" cy="75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4758" y="4880041"/>
            <a:ext cx="2450333" cy="2732853"/>
            <a:chOff x="0" y="0"/>
            <a:chExt cx="3267111" cy="364380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33127" cy="143312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545C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503960" y="271321"/>
              <a:ext cx="425206" cy="890484"/>
            </a:xfrm>
            <a:custGeom>
              <a:avLst/>
              <a:gdLst/>
              <a:ahLst/>
              <a:cxnLst/>
              <a:rect r="r" b="b" t="t" l="l"/>
              <a:pathLst>
                <a:path h="890484" w="425206">
                  <a:moveTo>
                    <a:pt x="0" y="0"/>
                  </a:moveTo>
                  <a:lnTo>
                    <a:pt x="425206" y="0"/>
                  </a:lnTo>
                  <a:lnTo>
                    <a:pt x="425206" y="890484"/>
                  </a:lnTo>
                  <a:lnTo>
                    <a:pt x="0" y="890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2451887"/>
              <a:ext cx="3267111" cy="11919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80"/>
                </a:lnSpc>
              </a:pPr>
              <a:r>
                <a:rPr lang="en-US" sz="177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Análise de requisitos, DER e wireframes</a:t>
              </a:r>
            </a:p>
            <a:p>
              <a:pPr algn="l">
                <a:lnSpc>
                  <a:spcPts val="2480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84570"/>
              <a:ext cx="3267111" cy="898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0"/>
                </a:lnSpc>
              </a:pPr>
              <a:r>
                <a:rPr lang="en-US" sz="1992" b="true">
                  <a:solidFill>
                    <a:srgbClr val="0545CD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SEMANAS 1–2</a:t>
              </a:r>
            </a:p>
            <a:p>
              <a:pPr algn="l">
                <a:lnSpc>
                  <a:spcPts val="279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663673" y="4880041"/>
            <a:ext cx="1074845" cy="10748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932588" y="4880041"/>
            <a:ext cx="1074845" cy="107484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01502" y="4880041"/>
            <a:ext cx="1074845" cy="107484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470417" y="4880041"/>
            <a:ext cx="1074845" cy="107484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013272" y="5077512"/>
            <a:ext cx="375647" cy="679904"/>
          </a:xfrm>
          <a:custGeom>
            <a:avLst/>
            <a:gdLst/>
            <a:ahLst/>
            <a:cxnLst/>
            <a:rect r="r" b="b" t="t" l="l"/>
            <a:pathLst>
              <a:path h="679904" w="375647">
                <a:moveTo>
                  <a:pt x="0" y="0"/>
                </a:moveTo>
                <a:lnTo>
                  <a:pt x="375647" y="0"/>
                </a:lnTo>
                <a:lnTo>
                  <a:pt x="375647" y="679904"/>
                </a:lnTo>
                <a:lnTo>
                  <a:pt x="0" y="679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276273" y="5010479"/>
            <a:ext cx="387474" cy="746937"/>
          </a:xfrm>
          <a:custGeom>
            <a:avLst/>
            <a:gdLst/>
            <a:ahLst/>
            <a:cxnLst/>
            <a:rect r="r" b="b" t="t" l="l"/>
            <a:pathLst>
              <a:path h="746937" w="387474">
                <a:moveTo>
                  <a:pt x="0" y="0"/>
                </a:moveTo>
                <a:lnTo>
                  <a:pt x="387474" y="0"/>
                </a:lnTo>
                <a:lnTo>
                  <a:pt x="387474" y="746937"/>
                </a:lnTo>
                <a:lnTo>
                  <a:pt x="0" y="746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495503" y="5077512"/>
            <a:ext cx="486845" cy="729604"/>
          </a:xfrm>
          <a:custGeom>
            <a:avLst/>
            <a:gdLst/>
            <a:ahLst/>
            <a:cxnLst/>
            <a:rect r="r" b="b" t="t" l="l"/>
            <a:pathLst>
              <a:path h="729604" w="486845">
                <a:moveTo>
                  <a:pt x="0" y="0"/>
                </a:moveTo>
                <a:lnTo>
                  <a:pt x="486844" y="0"/>
                </a:lnTo>
                <a:lnTo>
                  <a:pt x="486844" y="729604"/>
                </a:lnTo>
                <a:lnTo>
                  <a:pt x="0" y="7296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4729548" y="5036049"/>
            <a:ext cx="556583" cy="812530"/>
          </a:xfrm>
          <a:custGeom>
            <a:avLst/>
            <a:gdLst/>
            <a:ahLst/>
            <a:cxnLst/>
            <a:rect r="r" b="b" t="t" l="l"/>
            <a:pathLst>
              <a:path h="812530" w="556583">
                <a:moveTo>
                  <a:pt x="0" y="0"/>
                </a:moveTo>
                <a:lnTo>
                  <a:pt x="556583" y="0"/>
                </a:lnTo>
                <a:lnTo>
                  <a:pt x="556583" y="812530"/>
                </a:lnTo>
                <a:lnTo>
                  <a:pt x="0" y="81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7932588" y="6711813"/>
            <a:ext cx="2450333" cy="90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  <a:spcBef>
                <a:spcPct val="0"/>
              </a:spcBef>
            </a:pPr>
            <a:r>
              <a:rPr lang="en-US" sz="17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funcional, motor de agendamento e APIs Google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32588" y="6208944"/>
            <a:ext cx="2450333" cy="68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992" b="tru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SEMANAS 6–9</a:t>
            </a:r>
          </a:p>
          <a:p>
            <a:pPr algn="l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1201502" y="6711813"/>
            <a:ext cx="2450333" cy="59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  <a:spcBef>
                <a:spcPct val="0"/>
              </a:spcBef>
            </a:pPr>
            <a:r>
              <a:rPr lang="en-US" sz="17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Refinamento UI/UX com Bootstrap 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01502" y="6208944"/>
            <a:ext cx="2450333" cy="68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992" b="tru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SEMANAS 10–11</a:t>
            </a:r>
          </a:p>
          <a:p>
            <a:pPr algn="l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470417" y="6711813"/>
            <a:ext cx="2450333" cy="90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  <a:spcBef>
                <a:spcPct val="0"/>
              </a:spcBef>
            </a:pPr>
            <a:r>
              <a:rPr lang="en-US" sz="17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Testes globais, refatoração e documentação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470417" y="6208944"/>
            <a:ext cx="2450333" cy="68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992" b="tru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SEMANAS 12–13</a:t>
            </a:r>
          </a:p>
          <a:p>
            <a:pPr algn="l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4663673" y="6711813"/>
            <a:ext cx="2450333" cy="90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177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Backend ASP.NET Core, EF Core e Identity</a:t>
            </a:r>
          </a:p>
          <a:p>
            <a:pPr algn="l">
              <a:lnSpc>
                <a:spcPts val="2480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4663673" y="6208944"/>
            <a:ext cx="2450333" cy="68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992" b="true">
                <a:solidFill>
                  <a:srgbClr val="0545C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SEMANAS 3–5</a:t>
            </a:r>
          </a:p>
          <a:p>
            <a:pPr algn="l">
              <a:lnSpc>
                <a:spcPts val="2790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954729" y="835201"/>
            <a:ext cx="12399184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500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Fases de Desenvolvimento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68941" y="9588596"/>
            <a:ext cx="98071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08/10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85385" y="8229600"/>
            <a:ext cx="302615" cy="1028700"/>
            <a:chOff x="0" y="0"/>
            <a:chExt cx="2391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103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03">
                  <a:moveTo>
                    <a:pt x="0" y="0"/>
                  </a:moveTo>
                  <a:lnTo>
                    <a:pt x="239103" y="0"/>
                  </a:lnTo>
                  <a:lnTo>
                    <a:pt x="239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1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22884" y="4948643"/>
            <a:ext cx="11335026" cy="6804697"/>
            <a:chOff x="0" y="0"/>
            <a:chExt cx="8956070" cy="5376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56070" cy="5376551"/>
            </a:xfrm>
            <a:custGeom>
              <a:avLst/>
              <a:gdLst/>
              <a:ahLst/>
              <a:cxnLst/>
              <a:rect r="r" b="b" t="t" l="l"/>
              <a:pathLst>
                <a:path h="5376551" w="8956070">
                  <a:moveTo>
                    <a:pt x="0" y="0"/>
                  </a:moveTo>
                  <a:lnTo>
                    <a:pt x="8956070" y="0"/>
                  </a:lnTo>
                  <a:lnTo>
                    <a:pt x="8956070" y="5376551"/>
                  </a:lnTo>
                  <a:lnTo>
                    <a:pt x="0" y="5376551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956070" cy="5414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>
            <a:hlinkClick r:id="rId4" action="ppaction://hlinksldjump"/>
          </p:cNvPr>
          <p:cNvSpPr/>
          <p:nvPr/>
        </p:nvSpPr>
        <p:spPr>
          <a:xfrm flipH="false" flipV="false" rot="684889">
            <a:off x="11958360" y="2051303"/>
            <a:ext cx="4497384" cy="4458032"/>
          </a:xfrm>
          <a:custGeom>
            <a:avLst/>
            <a:gdLst/>
            <a:ahLst/>
            <a:cxnLst/>
            <a:rect r="r" b="b" t="t" l="l"/>
            <a:pathLst>
              <a:path h="4458032" w="4497384">
                <a:moveTo>
                  <a:pt x="0" y="0"/>
                </a:moveTo>
                <a:lnTo>
                  <a:pt x="4497384" y="0"/>
                </a:lnTo>
                <a:lnTo>
                  <a:pt x="4497384" y="4458033"/>
                </a:lnTo>
                <a:lnTo>
                  <a:pt x="0" y="4458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7284" y="6201685"/>
            <a:ext cx="9174692" cy="25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0"/>
              </a:lnSpc>
            </a:pPr>
            <a:r>
              <a:rPr lang="en-US" sz="7544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Demonstração </a:t>
            </a:r>
          </a:p>
          <a:p>
            <a:pPr algn="l">
              <a:lnSpc>
                <a:spcPts val="10260"/>
              </a:lnSpc>
            </a:pPr>
            <a:r>
              <a:rPr lang="en-US" sz="7544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do Projeto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9377" y="9740996"/>
            <a:ext cx="98464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09/10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85385" y="8229600"/>
            <a:ext cx="302615" cy="1028700"/>
            <a:chOff x="0" y="0"/>
            <a:chExt cx="23910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103" cy="812800"/>
            </a:xfrm>
            <a:custGeom>
              <a:avLst/>
              <a:gdLst/>
              <a:ahLst/>
              <a:cxnLst/>
              <a:rect r="r" b="b" t="t" l="l"/>
              <a:pathLst>
                <a:path h="812800" w="239103">
                  <a:moveTo>
                    <a:pt x="0" y="0"/>
                  </a:moveTo>
                  <a:lnTo>
                    <a:pt x="239103" y="0"/>
                  </a:lnTo>
                  <a:lnTo>
                    <a:pt x="239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45C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910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28305" y="2111387"/>
            <a:ext cx="2231390" cy="1536870"/>
          </a:xfrm>
          <a:custGeom>
            <a:avLst/>
            <a:gdLst/>
            <a:ahLst/>
            <a:cxnLst/>
            <a:rect r="r" b="b" t="t" l="l"/>
            <a:pathLst>
              <a:path h="1536870" w="2231390">
                <a:moveTo>
                  <a:pt x="0" y="0"/>
                </a:moveTo>
                <a:lnTo>
                  <a:pt x="2231390" y="0"/>
                </a:lnTo>
                <a:lnTo>
                  <a:pt x="2231390" y="1536871"/>
                </a:lnTo>
                <a:lnTo>
                  <a:pt x="0" y="1536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84822" y="3437166"/>
            <a:ext cx="12918355" cy="2581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9"/>
              </a:lnSpc>
              <a:spcBef>
                <a:spcPct val="0"/>
              </a:spcBef>
            </a:pPr>
            <a:r>
              <a:rPr lang="en-US" sz="15006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OBRIGADO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82224" y="5642663"/>
            <a:ext cx="9723551" cy="110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48"/>
              </a:lnSpc>
              <a:spcBef>
                <a:spcPct val="0"/>
              </a:spcBef>
            </a:pPr>
            <a:r>
              <a:rPr lang="en-US" sz="6463">
                <a:solidFill>
                  <a:srgbClr val="0545CD"/>
                </a:solidFill>
                <a:latin typeface="Alfa Slab One"/>
                <a:ea typeface="Alfa Slab One"/>
                <a:cs typeface="Alfa Slab One"/>
                <a:sym typeface="Alfa Slab One"/>
              </a:rPr>
              <a:t>PELA ATENÇÃO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2533" y="7194980"/>
            <a:ext cx="11242935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BARBERLOC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MARTIM ARANHA</a:t>
            </a:r>
            <a:r>
              <a:rPr lang="en-US" sz="2199" strike="noStrike" u="none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06718" y="9762130"/>
            <a:ext cx="130516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Slide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DAHOKpbwzlA</dc:identifier>
  <dcterms:modified xsi:type="dcterms:W3CDTF">2011-08-01T06:04:30Z</dcterms:modified>
  <cp:revision>1</cp:revision>
  <dc:title>Barberloc</dc:title>
</cp:coreProperties>
</file>