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handoutMasterIdLst>
    <p:handoutMasterId r:id="rId13"/>
  </p:handoutMasterIdLst>
  <p:sldIdLst>
    <p:sldId id="257" r:id="rId5"/>
    <p:sldId id="268" r:id="rId6"/>
    <p:sldId id="261" r:id="rId7"/>
    <p:sldId id="262" r:id="rId8"/>
    <p:sldId id="267" r:id="rId9"/>
    <p:sldId id="269" r:id="rId10"/>
    <p:sldId id="271" r:id="rId11"/>
  </p:sldIdLst>
  <p:sldSz cx="12188825" cy="6858000"/>
  <p:notesSz cx="6858000" cy="9144000"/>
  <p:defaultTextStyle>
    <a:defPPr rtl="0">
      <a:defRPr lang="pt-pt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ndra moniz" initials="sm" lastIdx="1" clrIdx="0">
    <p:extLst>
      <p:ext uri="{19B8F6BF-5375-455C-9EA6-DF929625EA0E}">
        <p15:presenceInfo xmlns:p15="http://schemas.microsoft.com/office/powerpoint/2012/main" userId="66b66c7b1efdf19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72" d="100"/>
          <a:sy n="72" d="100"/>
        </p:scale>
        <p:origin x="660" y="9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Marcador de Posição de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5" name="Marcador de Posição de Número do Diapositivo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fld id="{79429053-DC2A-4342-ADD4-2FD729D91E2C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Marcador de Posição de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t>Clique para editar os Estilos de título do modelo global</a:t>
            </a:r>
          </a:p>
          <a:p>
            <a:pPr lvl="1" rtl="0"/>
            <a:r>
              <a:t>Segundo nível</a:t>
            </a:r>
          </a:p>
          <a:p>
            <a:pPr lvl="2" rtl="0"/>
            <a:r>
              <a:t>Terceiro nível</a:t>
            </a:r>
          </a:p>
          <a:p>
            <a:pPr lvl="3" rtl="0"/>
            <a:r>
              <a:t>Quarto nível</a:t>
            </a:r>
          </a:p>
          <a:p>
            <a:pPr lvl="4" rtl="0"/>
            <a:r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7" name="Marcador de Posição de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fld id="{3EBA5BD7-F043-4D1B-AA17-CD412FC534DE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i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Conexão Reta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Conexão Reta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Conexão Reta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linhas inferior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orma livre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0" name="Forma livre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1" name="Forma livre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 algn="l" rtl="0">
              <a:defRPr sz="5400"/>
            </a:lvl1pPr>
          </a:lstStyle>
          <a:p>
            <a:pPr rtl="0"/>
            <a:r>
              <a:rPr lang="pt-PT"/>
              <a:t>Clique para editar o estilo de título do Modelo Global</a:t>
            </a:r>
            <a:endParaRPr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PT"/>
              <a:t>Clique para editar o estilo de subtítulo do Modelo Global</a:t>
            </a:r>
            <a:endParaRPr/>
          </a:p>
        </p:txBody>
      </p:sp>
      <p:sp>
        <p:nvSpPr>
          <p:cNvPr id="22" name="Marcador de Posição da Data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23" name="Marcador de Posição do Rodapé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24" name="Marcador de Posição do Número do Diapositivo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/>
              <a:t>Clique para editar o estilo de título do Modelo Global</a:t>
            </a:r>
            <a:endParaRPr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/>
          </a:p>
        </p:txBody>
      </p:sp>
      <p:sp>
        <p:nvSpPr>
          <p:cNvPr id="4" name="Marcador de Posição de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Marcador de Posição de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i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Conexão Reta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exão Reta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exão Reta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pt-PT"/>
              <a:t>Clique para editar o estilo de título do Modelo Global</a:t>
            </a:r>
            <a:endParaRPr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Marcador de Posição de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/>
              <a:t>Clique para editar o estilo de título do Modelo Global</a:t>
            </a:r>
            <a:endParaRPr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/>
            </a:lvl8pPr>
            <a:lvl9pPr algn="l" rtl="0">
              <a:defRPr sz="2000"/>
            </a:lvl9pPr>
          </a:lstStyle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/>
          </a:p>
        </p:txBody>
      </p:sp>
      <p:sp>
        <p:nvSpPr>
          <p:cNvPr id="5" name="Marcador de Posição de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Marcador de Posição de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pt-PT"/>
              <a:t>Clique para editar o estilo de título do Modelo Global</a:t>
            </a:r>
            <a:endParaRPr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/>
          </a:p>
        </p:txBody>
      </p:sp>
      <p:sp>
        <p:nvSpPr>
          <p:cNvPr id="5" name="Marcador de Posição de Texto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 baseline="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/>
          </a:p>
        </p:txBody>
      </p:sp>
      <p:sp>
        <p:nvSpPr>
          <p:cNvPr id="7" name="Marcador de Posição de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9" name="Marcador de Posição de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ítulo Ape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/>
              <a:t>Clique para editar o estilo de título do Modelo Global</a:t>
            </a:r>
            <a:endParaRPr/>
          </a:p>
        </p:txBody>
      </p:sp>
      <p:sp>
        <p:nvSpPr>
          <p:cNvPr id="3" name="Marcador de Posição de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5" name="Marcador de Posição de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e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4" name="Marcador de Posição de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PT"/>
              <a:t>Clique para editar o estilo de título do Modelo Global</a:t>
            </a:r>
            <a:endParaRPr/>
          </a:p>
        </p:txBody>
      </p:sp>
      <p:sp>
        <p:nvSpPr>
          <p:cNvPr id="4" name="Marcador de Posição de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pt-PT"/>
              <a:t>Clique para editar os estilos do texto de Modelo Global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/>
          </a:p>
        </p:txBody>
      </p:sp>
      <p:sp>
        <p:nvSpPr>
          <p:cNvPr id="5" name="Marcador de Posição de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Marcador de Posição de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PT"/>
              <a:t>Clique para editar o estilo de título do Modelo Global</a:t>
            </a:r>
            <a:endParaRPr/>
          </a:p>
        </p:txBody>
      </p:sp>
      <p:sp>
        <p:nvSpPr>
          <p:cNvPr id="4" name="Marcador de Posição de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pt-PT"/>
              <a:t>Clique para editar os estilos do texto de Modelo Global</a:t>
            </a:r>
          </a:p>
        </p:txBody>
      </p:sp>
      <p:sp>
        <p:nvSpPr>
          <p:cNvPr id="3" name="Marcador de Posição da Imagem 2" descr="Um marcador de posição vazio para adicionar uma imagem. Clique no marcador de posição e selecione a imagem que pretende adicionar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pt-PT"/>
              <a:t>Clique no ícone para adicionar uma imagem</a:t>
            </a:r>
            <a:endParaRPr/>
          </a:p>
        </p:txBody>
      </p:sp>
      <p:sp>
        <p:nvSpPr>
          <p:cNvPr id="5" name="Marcador de Posição de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Marcador de Posição de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/>
              <a:t>Clique para editar o estilo de título do Modelo Global</a:t>
            </a:r>
            <a:endParaRPr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/>
          </a:p>
        </p:txBody>
      </p:sp>
      <p:sp>
        <p:nvSpPr>
          <p:cNvPr id="4" name="Marcador de Posição de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Marcador de Posição de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pt-PT"/>
              <a:t>Clique para editar o estilo de título do Modelo Global</a:t>
            </a:r>
            <a:endParaRPr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/>
          </a:p>
        </p:txBody>
      </p:sp>
      <p:sp>
        <p:nvSpPr>
          <p:cNvPr id="4" name="Marcador de Posição de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Marcador de Posição de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inhas à esquerda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orma livre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1" name="Forma livre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4" name="Forma livre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</p:grpSp>
      <p:sp>
        <p:nvSpPr>
          <p:cNvPr id="2" name="Marcador de Posição de Título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pt-pt"/>
              <a:t>Clique para editar o estilo do título do Modelo Global</a:t>
            </a:r>
            <a:endParaRPr/>
          </a:p>
        </p:txBody>
      </p:sp>
      <p:sp>
        <p:nvSpPr>
          <p:cNvPr id="3" name="Marcador de Posição de Texto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pt-pt"/>
              <a:t>Editar estilos de texto do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/>
          </a:p>
        </p:txBody>
      </p:sp>
      <p:sp>
        <p:nvSpPr>
          <p:cNvPr id="4" name="Marcador de Posição de Data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/>
          </a:p>
        </p:txBody>
      </p:sp>
      <p:sp>
        <p:nvSpPr>
          <p:cNvPr id="6" name="Marcador de Posição de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014DD1E-5D91-48A3-AD6D-45FBA980D106}" type="slidenum">
              <a:rPr/>
              <a:pPr rtl="0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pt-PT" dirty="0" err="1"/>
              <a:t>B</a:t>
            </a:r>
            <a:r>
              <a:rPr lang="pt-pt" dirty="0" err="1"/>
              <a:t>arberLoc</a:t>
            </a:r>
            <a:endParaRPr lang="pt-pt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pt-PT" sz="2400" dirty="0"/>
              <a:t>R</a:t>
            </a:r>
            <a:r>
              <a:rPr lang="pt-pt" sz="2400" dirty="0"/>
              <a:t>ealizado por: Martim Aranha Nº2223224 tgpsi23r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 dirty="0"/>
              <a:t>É sobre o que esta aplicação?</a:t>
            </a:r>
            <a:endParaRPr lang="en-US" dirty="0"/>
          </a:p>
        </p:txBody>
      </p:sp>
      <p:sp>
        <p:nvSpPr>
          <p:cNvPr id="14" name="Marcador de Posição de Conteúdo 13"/>
          <p:cNvSpPr>
            <a:spLocks noGrp="1"/>
          </p:cNvSpPr>
          <p:nvPr>
            <p:ph idx="1"/>
          </p:nvPr>
        </p:nvSpPr>
        <p:spPr>
          <a:xfrm>
            <a:off x="1218883" y="1701797"/>
            <a:ext cx="6387697" cy="4462272"/>
          </a:xfrm>
        </p:spPr>
        <p:txBody>
          <a:bodyPr rtlCol="0"/>
          <a:lstStyle/>
          <a:p>
            <a:pPr rtl="0"/>
            <a:r>
              <a:rPr lang="pt-pt" dirty="0"/>
              <a:t>Tem como objetivo o utilizador encontrar uma barbearia de qualidade, do seu gosto, etc. Então com a </a:t>
            </a:r>
            <a:r>
              <a:rPr lang="pt-pt" dirty="0" err="1"/>
              <a:t>BarberLoc</a:t>
            </a:r>
            <a:r>
              <a:rPr lang="pt-pt" dirty="0"/>
              <a:t> vai conseguir encontrar uma com a localização mais próxima, saber os horários, contactos e avaliações.</a:t>
            </a:r>
          </a:p>
          <a:p>
            <a:pPr rtl="0"/>
            <a:endParaRPr lang="en-US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AEE70FD-7C76-47C9-A150-0A122D721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2604" y="1498600"/>
            <a:ext cx="4176464" cy="446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922115"/>
          </a:xfrm>
        </p:spPr>
        <p:txBody>
          <a:bodyPr rtlCol="0"/>
          <a:lstStyle/>
          <a:p>
            <a:pPr rtl="0"/>
            <a:r>
              <a:rPr lang="pt-PT" dirty="0"/>
              <a:t>Objetivo do Projeto</a:t>
            </a:r>
            <a:endParaRPr lang="pt-pt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125EFF47-C3EC-658F-E58D-3056C4D61CF2}"/>
              </a:ext>
            </a:extLst>
          </p:cNvPr>
          <p:cNvSpPr txBox="1"/>
          <p:nvPr/>
        </p:nvSpPr>
        <p:spPr>
          <a:xfrm>
            <a:off x="3506010" y="1567328"/>
            <a:ext cx="5313442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800" b="1" dirty="0"/>
              <a:t>Para Utilizadores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dirty="0"/>
              <a:t>Poupar tempo na procura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dirty="0"/>
              <a:t>Decisões informadas com avaliações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dirty="0"/>
              <a:t>Fácil ajuda para melhorar a aparência</a:t>
            </a:r>
          </a:p>
          <a:p>
            <a:endParaRPr lang="pt-PT" sz="2800" dirty="0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10EFB9A-9A05-D381-5C2C-06D7D339D515}"/>
              </a:ext>
            </a:extLst>
          </p:cNvPr>
          <p:cNvSpPr txBox="1"/>
          <p:nvPr/>
        </p:nvSpPr>
        <p:spPr>
          <a:xfrm>
            <a:off x="1218883" y="4491122"/>
            <a:ext cx="424847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b="1" dirty="0"/>
              <a:t>Para Barbearias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dirty="0"/>
              <a:t>Maior visibilidade online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dirty="0"/>
              <a:t>Gestão facilitada do negócio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dirty="0"/>
              <a:t>Interação direta com clientes</a:t>
            </a:r>
          </a:p>
          <a:p>
            <a:endParaRPr lang="pt-PT" sz="2800" dirty="0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0113BE53-25AD-D38D-ECC3-814765B378DA}"/>
              </a:ext>
            </a:extLst>
          </p:cNvPr>
          <p:cNvSpPr txBox="1"/>
          <p:nvPr/>
        </p:nvSpPr>
        <p:spPr>
          <a:xfrm>
            <a:off x="6238428" y="4491121"/>
            <a:ext cx="5217647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800" b="1" dirty="0"/>
              <a:t>Para a Comunidade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dirty="0"/>
              <a:t>Apoio a negócios locais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dirty="0"/>
              <a:t>Crescimento económico sustentável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dirty="0"/>
              <a:t>Fortalecimento do tecido empresarial</a:t>
            </a:r>
          </a:p>
          <a:p>
            <a:endParaRPr lang="pt-PT" sz="2800" dirty="0"/>
          </a:p>
        </p:txBody>
      </p:sp>
    </p:spTree>
    <p:extLst>
      <p:ext uri="{BB962C8B-B14F-4D97-AF65-F5344CB8AC3E}">
        <p14:creationId xmlns:p14="http://schemas.microsoft.com/office/powerpoint/2010/main" val="267203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634083"/>
          </a:xfrm>
        </p:spPr>
        <p:txBody>
          <a:bodyPr rtlCol="0"/>
          <a:lstStyle/>
          <a:p>
            <a:pPr rtl="0"/>
            <a:r>
              <a:rPr lang="pt-PT" dirty="0"/>
              <a:t>Metodologia</a:t>
            </a:r>
            <a:endParaRPr lang="pt-pt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D6EF9A5-4B3F-A519-BB75-4DC1A60B8297}"/>
              </a:ext>
            </a:extLst>
          </p:cNvPr>
          <p:cNvSpPr txBox="1"/>
          <p:nvPr/>
        </p:nvSpPr>
        <p:spPr>
          <a:xfrm>
            <a:off x="1021403" y="1130038"/>
            <a:ext cx="10755459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b="1" dirty="0"/>
              <a:t>Fase 1 - Planeamento e Análise</a:t>
            </a:r>
            <a:r>
              <a:rPr lang="pt-PT" sz="2000" dirty="0"/>
              <a:t> (outubro - novembro) decidir tema, objetivos e requisitos.</a:t>
            </a:r>
          </a:p>
          <a:p>
            <a:endParaRPr lang="pt-PT" sz="2000" dirty="0"/>
          </a:p>
          <a:p>
            <a:r>
              <a:rPr lang="pt-PT" sz="2000" b="1" dirty="0"/>
              <a:t>Fase 2 - Design e Prototipagem</a:t>
            </a:r>
            <a:r>
              <a:rPr lang="pt-PT" sz="2000" dirty="0"/>
              <a:t> (novembro) Será desenvolvida a interface visual, de forma a ser simples e fácil de utilizar.</a:t>
            </a:r>
          </a:p>
          <a:p>
            <a:endParaRPr lang="pt-PT" sz="2000" dirty="0"/>
          </a:p>
          <a:p>
            <a:r>
              <a:rPr lang="pt-PT" sz="2000" b="1" dirty="0"/>
              <a:t>Fase 3 – Desenvolvimento do projeto</a:t>
            </a:r>
            <a:r>
              <a:rPr lang="pt-PT" sz="2000" dirty="0"/>
              <a:t> (novembro - janeiro) Será feito </a:t>
            </a:r>
            <a:r>
              <a:rPr lang="pt-PT" sz="2000" dirty="0" err="1"/>
              <a:t>backend</a:t>
            </a:r>
            <a:r>
              <a:rPr lang="pt-PT" sz="2000" dirty="0"/>
              <a:t> e começar o </a:t>
            </a:r>
            <a:r>
              <a:rPr lang="pt-PT" sz="2000" dirty="0" err="1"/>
              <a:t>frontend</a:t>
            </a:r>
            <a:r>
              <a:rPr lang="pt-PT" sz="2000" dirty="0"/>
              <a:t>, configuração da base de dados e desenvolvimento do sistema de login.</a:t>
            </a:r>
          </a:p>
          <a:p>
            <a:endParaRPr lang="pt-PT" sz="2000" dirty="0"/>
          </a:p>
          <a:p>
            <a:r>
              <a:rPr lang="pt-PT" sz="2000" b="1" dirty="0"/>
              <a:t>Fase 4 - Integração de Funcionalidades</a:t>
            </a:r>
            <a:r>
              <a:rPr lang="pt-PT" sz="2000" dirty="0"/>
              <a:t> (janeiro - fevereiro) Concluir o </a:t>
            </a:r>
            <a:r>
              <a:rPr lang="pt-PT" sz="2000" dirty="0" err="1"/>
              <a:t>frontend</a:t>
            </a:r>
            <a:r>
              <a:rPr lang="pt-PT" sz="2000" dirty="0"/>
              <a:t>, criar as </a:t>
            </a:r>
            <a:r>
              <a:rPr lang="pt-PT" sz="2000" dirty="0" err="1"/>
              <a:t>APIs</a:t>
            </a:r>
            <a:r>
              <a:rPr lang="pt-PT" sz="2000" dirty="0"/>
              <a:t> externas (mapas), desenvolvimento dos sistemas de avaliações, comentários, favoritos e perfis de barbearia.</a:t>
            </a:r>
          </a:p>
          <a:p>
            <a:endParaRPr lang="pt-PT" sz="2000" dirty="0"/>
          </a:p>
          <a:p>
            <a:r>
              <a:rPr lang="pt-PT" sz="2000" b="1" dirty="0"/>
              <a:t>Fase 5 - Testes e Otimização</a:t>
            </a:r>
            <a:r>
              <a:rPr lang="pt-PT" sz="2000" dirty="0"/>
              <a:t> (fevereiro - maio) Realizar testes para verificar se todo funciona e de segurança. Corrigir possíveis bugs, otimização de desempenho e ajustes finais.</a:t>
            </a:r>
          </a:p>
          <a:p>
            <a:endParaRPr lang="pt-PT" sz="2000" dirty="0"/>
          </a:p>
          <a:p>
            <a:r>
              <a:rPr lang="pt-PT" sz="2000" b="1" dirty="0"/>
              <a:t>Fase 6 - Documentação e Entrega</a:t>
            </a:r>
            <a:r>
              <a:rPr lang="pt-PT" sz="2000" dirty="0"/>
              <a:t> (maio - junho) Fazer toda a documentação técnica completa (manual de utilizador e de programador) e preparação da apresentação final do projeto.</a:t>
            </a:r>
          </a:p>
          <a:p>
            <a:endParaRPr lang="pt-PT" sz="2800" dirty="0"/>
          </a:p>
        </p:txBody>
      </p:sp>
    </p:spTree>
    <p:extLst>
      <p:ext uri="{BB962C8B-B14F-4D97-AF65-F5344CB8AC3E}">
        <p14:creationId xmlns:p14="http://schemas.microsoft.com/office/powerpoint/2010/main" val="39771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 dirty="0"/>
              <a:t>Ferramentas ou tecnologias utilizadas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F77CC69-F8AC-ED0F-793F-43E304283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PT" b="1" dirty="0" err="1"/>
              <a:t>Backend</a:t>
            </a:r>
            <a:endParaRPr lang="pt-PT" b="1" dirty="0"/>
          </a:p>
          <a:p>
            <a:r>
              <a:rPr lang="pt-PT" dirty="0"/>
              <a:t>ASP.NET Framework em C#.</a:t>
            </a:r>
          </a:p>
          <a:p>
            <a:pPr marL="0" indent="0">
              <a:buNone/>
            </a:pPr>
            <a:r>
              <a:rPr lang="pt-PT" b="1" dirty="0" err="1"/>
              <a:t>Frontend</a:t>
            </a:r>
            <a:endParaRPr lang="pt-PT" b="1" dirty="0"/>
          </a:p>
          <a:p>
            <a:r>
              <a:rPr lang="pt-PT" dirty="0"/>
              <a:t>HTML, CSS e JavaScript.</a:t>
            </a:r>
          </a:p>
          <a:p>
            <a:pPr marL="0" indent="0">
              <a:buNone/>
            </a:pPr>
            <a:r>
              <a:rPr lang="pt-PT" b="1" dirty="0"/>
              <a:t>Base de Dados</a:t>
            </a:r>
          </a:p>
          <a:p>
            <a:r>
              <a:rPr lang="pt-PT" dirty="0"/>
              <a:t>SQL Server.</a:t>
            </a:r>
          </a:p>
          <a:p>
            <a:pPr marL="0" indent="0">
              <a:buNone/>
            </a:pPr>
            <a:r>
              <a:rPr lang="pt-PT" b="1" dirty="0" err="1"/>
              <a:t>APIs</a:t>
            </a:r>
            <a:r>
              <a:rPr lang="pt-PT" b="1" dirty="0"/>
              <a:t> Externas</a:t>
            </a:r>
          </a:p>
          <a:p>
            <a:r>
              <a:rPr lang="pt-PT" dirty="0"/>
              <a:t>Integração com serviços de mapas, localização e rotas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48481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/>
              <a:t>Calendarização</a:t>
            </a:r>
            <a:endParaRPr lang="pt-pt" dirty="0"/>
          </a:p>
        </p:txBody>
      </p:sp>
      <p:graphicFrame>
        <p:nvGraphicFramePr>
          <p:cNvPr id="7" name="Marcador de Posição de Conteúdo 6">
            <a:extLst>
              <a:ext uri="{FF2B5EF4-FFF2-40B4-BE49-F238E27FC236}">
                <a16:creationId xmlns:a16="http://schemas.microsoft.com/office/drawing/2014/main" id="{5A5B150D-87E2-CB2C-D203-3A40E2E3F42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49763792"/>
              </p:ext>
            </p:extLst>
          </p:nvPr>
        </p:nvGraphicFramePr>
        <p:xfrm>
          <a:off x="1125860" y="1498600"/>
          <a:ext cx="10453525" cy="4882726"/>
        </p:xfrm>
        <a:graphic>
          <a:graphicData uri="http://schemas.openxmlformats.org/drawingml/2006/table">
            <a:tbl>
              <a:tblPr/>
              <a:tblGrid>
                <a:gridCol w="2736304">
                  <a:extLst>
                    <a:ext uri="{9D8B030D-6E8A-4147-A177-3AD203B41FA5}">
                      <a16:colId xmlns:a16="http://schemas.microsoft.com/office/drawing/2014/main" val="4168207236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93736912"/>
                    </a:ext>
                  </a:extLst>
                </a:gridCol>
                <a:gridCol w="5700997">
                  <a:extLst>
                    <a:ext uri="{9D8B030D-6E8A-4147-A177-3AD203B41FA5}">
                      <a16:colId xmlns:a16="http://schemas.microsoft.com/office/drawing/2014/main" val="1222211785"/>
                    </a:ext>
                  </a:extLst>
                </a:gridCol>
              </a:tblGrid>
              <a:tr h="508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100" b="1"/>
                        <a:t>Fase</a:t>
                      </a:r>
                      <a:endParaRPr lang="pt-PT" sz="1100"/>
                    </a:p>
                  </a:txBody>
                  <a:tcPr marL="40231" marR="40231" marT="20115" marB="20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100" b="1"/>
                        <a:t>Período</a:t>
                      </a:r>
                      <a:endParaRPr lang="pt-PT" sz="1100"/>
                    </a:p>
                  </a:txBody>
                  <a:tcPr marL="40231" marR="40231" marT="20115" marB="20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100" b="1"/>
                        <a:t>Principais Tarefas</a:t>
                      </a:r>
                      <a:endParaRPr lang="pt-PT" sz="1100"/>
                    </a:p>
                  </a:txBody>
                  <a:tcPr marL="40231" marR="40231" marT="20115" marB="20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620619"/>
                  </a:ext>
                </a:extLst>
              </a:tr>
              <a:tr h="61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100" b="1"/>
                        <a:t>Fase 1 - Planeamento e Análise</a:t>
                      </a:r>
                      <a:endParaRPr lang="pt-PT" sz="1100"/>
                    </a:p>
                  </a:txBody>
                  <a:tcPr marL="40231" marR="40231" marT="20115" marB="20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100"/>
                        <a:t>out - nov</a:t>
                      </a:r>
                    </a:p>
                  </a:txBody>
                  <a:tcPr marL="40231" marR="40231" marT="20115" marB="20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100" dirty="0"/>
                        <a:t>Decidir tema, objetivos e requisitos</a:t>
                      </a:r>
                    </a:p>
                  </a:txBody>
                  <a:tcPr marL="40231" marR="40231" marT="20115" marB="20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1148651"/>
                  </a:ext>
                </a:extLst>
              </a:tr>
              <a:tr h="674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100" b="1"/>
                        <a:t>Fase 2 - Design e Prototipagem</a:t>
                      </a:r>
                      <a:endParaRPr lang="pt-PT" sz="1100"/>
                    </a:p>
                  </a:txBody>
                  <a:tcPr marL="40231" marR="40231" marT="20115" marB="20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100"/>
                        <a:t>novembro</a:t>
                      </a:r>
                    </a:p>
                  </a:txBody>
                  <a:tcPr marL="40231" marR="40231" marT="20115" marB="20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100"/>
                        <a:t>Desenvolver a interface visual de forma simples e fácil de utilizar</a:t>
                      </a:r>
                    </a:p>
                  </a:txBody>
                  <a:tcPr marL="40231" marR="40231" marT="20115" marB="20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0975803"/>
                  </a:ext>
                </a:extLst>
              </a:tr>
              <a:tr h="695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100" b="1"/>
                        <a:t>Fase 3 - Desenvolvimento do Projeto</a:t>
                      </a:r>
                      <a:endParaRPr lang="pt-PT" sz="1100"/>
                    </a:p>
                  </a:txBody>
                  <a:tcPr marL="40231" marR="40231" marT="20115" marB="20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100" dirty="0" err="1"/>
                        <a:t>nov</a:t>
                      </a:r>
                      <a:r>
                        <a:rPr lang="pt-PT" sz="1100" dirty="0"/>
                        <a:t> - </a:t>
                      </a:r>
                      <a:r>
                        <a:rPr lang="pt-PT" sz="1100" dirty="0" err="1"/>
                        <a:t>jan</a:t>
                      </a:r>
                      <a:endParaRPr lang="pt-PT" sz="1100" dirty="0"/>
                    </a:p>
                  </a:txBody>
                  <a:tcPr marL="40231" marR="40231" marT="20115" marB="20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100"/>
                        <a:t>Backend e frontend, configuração da base de dados, sistema de login</a:t>
                      </a:r>
                    </a:p>
                  </a:txBody>
                  <a:tcPr marL="40231" marR="40231" marT="20115" marB="20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9606582"/>
                  </a:ext>
                </a:extLst>
              </a:tr>
              <a:tr h="7874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100" b="1" dirty="0"/>
                        <a:t>Fase 4 - Integração de Funcionalidades</a:t>
                      </a:r>
                      <a:endParaRPr lang="pt-PT" sz="1100" dirty="0"/>
                    </a:p>
                  </a:txBody>
                  <a:tcPr marL="40231" marR="40231" marT="20115" marB="20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100" dirty="0" err="1"/>
                        <a:t>jan</a:t>
                      </a:r>
                      <a:r>
                        <a:rPr lang="pt-PT" sz="1100" dirty="0"/>
                        <a:t> - </a:t>
                      </a:r>
                      <a:r>
                        <a:rPr lang="pt-PT" sz="1100" dirty="0" err="1"/>
                        <a:t>fev</a:t>
                      </a:r>
                      <a:endParaRPr lang="pt-PT" sz="1100" dirty="0"/>
                    </a:p>
                  </a:txBody>
                  <a:tcPr marL="40231" marR="40231" marT="20115" marB="20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100"/>
                        <a:t>Concluir o frontend, integrar APIs de mapas, desenvolver os sistemas de avaliações, comentários, favoritos e perfis de barbearia</a:t>
                      </a:r>
                    </a:p>
                  </a:txBody>
                  <a:tcPr marL="40231" marR="40231" marT="20115" marB="20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2817268"/>
                  </a:ext>
                </a:extLst>
              </a:tr>
              <a:tr h="904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100" b="1" dirty="0"/>
                        <a:t>Fase 5 - Testes e Otimização</a:t>
                      </a:r>
                      <a:endParaRPr lang="pt-PT" sz="1100" dirty="0"/>
                    </a:p>
                  </a:txBody>
                  <a:tcPr marL="40231" marR="40231" marT="20115" marB="20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100"/>
                        <a:t>fev - mai</a:t>
                      </a:r>
                    </a:p>
                  </a:txBody>
                  <a:tcPr marL="40231" marR="40231" marT="20115" marB="20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100"/>
                        <a:t>Realizar testes de funcionamento e segurança, corrigir possíveis bugs, otimizar o desempenho</a:t>
                      </a:r>
                    </a:p>
                  </a:txBody>
                  <a:tcPr marL="40231" marR="40231" marT="20115" marB="20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8862377"/>
                  </a:ext>
                </a:extLst>
              </a:tr>
              <a:tr h="6999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100" b="1" dirty="0"/>
                        <a:t>Fase 6 - Documentação e Entrega</a:t>
                      </a:r>
                      <a:endParaRPr lang="pt-PT" sz="1100" dirty="0"/>
                    </a:p>
                  </a:txBody>
                  <a:tcPr marL="40231" marR="40231" marT="20115" marB="20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100"/>
                        <a:t>mai - jun</a:t>
                      </a:r>
                    </a:p>
                  </a:txBody>
                  <a:tcPr marL="40231" marR="40231" marT="20115" marB="20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100" dirty="0"/>
                        <a:t>Elaborar toda a documentação técnica completa (manual de utilizador e de programador) e preparar a apresentação final</a:t>
                      </a:r>
                    </a:p>
                  </a:txBody>
                  <a:tcPr marL="40231" marR="40231" marT="20115" marB="20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953683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DDCA0A99-E6F2-CA73-3B62-C40F1FB63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285648" y="0"/>
            <a:ext cx="1647447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4191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 dirty="0"/>
              <a:t>Fim</a:t>
            </a:r>
            <a:endParaRPr lang="pt-pt" dirty="0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/>
        <p:txBody>
          <a:bodyPr rtlCol="0"/>
          <a:lstStyle/>
          <a:p>
            <a:pPr rtl="0"/>
            <a:r>
              <a:rPr lang="en-US" dirty="0"/>
              <a:t>Martim Aranha Nº2223224 TGPSI23R</a:t>
            </a:r>
          </a:p>
        </p:txBody>
      </p:sp>
    </p:spTree>
    <p:extLst>
      <p:ext uri="{BB962C8B-B14F-4D97-AF65-F5344CB8AC3E}">
        <p14:creationId xmlns:p14="http://schemas.microsoft.com/office/powerpoint/2010/main" val="2319046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nologia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33246_TF02787990" id="{7937A00E-BA26-42C4-8F50-F93CA9CC2358}" vid="{94A5997D-5A7B-41B1-91EA-4D5CFF10FA40}"/>
    </a:ext>
  </a:extLst>
</a:theme>
</file>

<file path=ppt/theme/theme2.xml><?xml version="1.0" encoding="utf-8"?>
<a:theme xmlns:a="http://schemas.openxmlformats.org/drawingml/2006/main" name="Tema do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com linhas de circuito triplo (ecrã panorâmico)</Template>
  <TotalTime>255</TotalTime>
  <Words>460</Words>
  <Application>Microsoft Office PowerPoint</Application>
  <PresentationFormat>Personalizados</PresentationFormat>
  <Paragraphs>62</Paragraphs>
  <Slides>7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0" baseType="lpstr">
      <vt:lpstr>Arial</vt:lpstr>
      <vt:lpstr>Calibri</vt:lpstr>
      <vt:lpstr>Tecnologia 16x9</vt:lpstr>
      <vt:lpstr>BarberLoc</vt:lpstr>
      <vt:lpstr>É sobre o que esta aplicação?</vt:lpstr>
      <vt:lpstr>Objetivo do Projeto</vt:lpstr>
      <vt:lpstr>Metodologia</vt:lpstr>
      <vt:lpstr>Ferramentas ou tecnologias utilizadas</vt:lpstr>
      <vt:lpstr>Calendarização</vt:lpstr>
      <vt:lpstr>Fim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sandra moniz</dc:creator>
  <cp:lastModifiedBy>sandra moniz</cp:lastModifiedBy>
  <cp:revision>4</cp:revision>
  <dcterms:created xsi:type="dcterms:W3CDTF">2025-11-16T12:40:08Z</dcterms:created>
  <dcterms:modified xsi:type="dcterms:W3CDTF">2025-11-23T20:04:59Z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